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0"/>
            <a:ext cx="8229600" cy="5143500"/>
          </a:xfrm>
          <a:prstGeom prst="rect">
            <a:avLst/>
          </a:prstGeom>
          <a:noFill/>
          <a:ln/>
        </p:spPr>
        <p:txBody>
          <a:bodyPr wrap="square" lIns="0" tIns="0" rIns="0" bIns="0" rtlCol="0" anchor="ctr"/>
          <a:lstStyle/>
          <a:p>
            <a:pPr algn="ctr" indent="0" marL="0">
              <a:buNone/>
            </a:pPr>
            <a:r>
              <a:rPr lang="en-US" sz="4000" b="1" dirty="0">
                <a:solidFill>
                  <a:srgbClr val="DC2626"/>
                </a:solidFill>
                <a:latin typeface="Noto Sans JP" pitchFamily="34" charset="0"/>
                <a:ea typeface="Noto Sans JP" pitchFamily="34" charset="-122"/>
                <a:cs typeface="Noto Sans JP" pitchFamily="34" charset="-120"/>
              </a:rPr>
              <a:t>YouTube新ジャンル調査 スコアカード</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サマリー</a:t>
            </a:r>
            <a:endParaRPr lang="en-US" sz="2400" dirty="0"/>
          </a:p>
        </p:txBody>
      </p:sp>
      <p:sp>
        <p:nvSpPr>
          <p:cNvPr id="3" name="Text 1"/>
          <p:cNvSpPr/>
          <p:nvPr/>
        </p:nvSpPr>
        <p:spPr>
          <a:xfrm>
            <a:off x="457200" y="1280160"/>
            <a:ext cx="8229600" cy="351978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3ジャンルとも「自宅完結・自動生成適性」は適性あり（顔出し・現地取材不要）と判定された。その中で総合的に最も推奨できるのは</a:t>
            </a:r>
            <a:pPr indent="0" marL="0">
              <a:buNone/>
            </a:pPr>
            <a:r>
              <a:rPr lang="en-US" sz="1800" b="1" dirty="0">
                <a:solidFill>
                  <a:srgbClr val="111827"/>
                </a:solidFill>
                <a:latin typeface="Noto Sans JP" pitchFamily="34" charset="0"/>
                <a:ea typeface="Noto Sans JP" pitchFamily="34" charset="-122"/>
                <a:cs typeface="Noto Sans JP" pitchFamily="34" charset="-120"/>
              </a:rPr>
              <a:t>都市伝説・雑学解説</a:t>
            </a:r>
            <a:pPr indent="0" marL="0">
              <a:buNone/>
            </a:pPr>
            <a:r>
              <a:rPr lang="en-US" sz="1800" dirty="0">
                <a:solidFill>
                  <a:srgbClr val="111827"/>
                </a:solidFill>
                <a:latin typeface="Noto Sans JP" pitchFamily="34" charset="0"/>
                <a:ea typeface="Noto Sans JP" pitchFamily="34" charset="-122"/>
                <a:cs typeface="Noto Sans JP" pitchFamily="34" charset="-120"/>
              </a:rPr>
              <a:t>。視聴者関心度・自動生成適性の両方が最高評価であることに加え、ChatGPT→Midjourney→Runway→Vrewという具体的な全自動制作フローが実証されており、他2ジャンルより「自宅完結・自動化」の再現性・実装難易度の面で優位性が明確だったため。次点は</a:t>
            </a:r>
            <a:pPr indent="0" marL="0">
              <a:buNone/>
            </a:pPr>
            <a:r>
              <a:rPr lang="en-US" sz="1800" b="1" dirty="0">
                <a:solidFill>
                  <a:srgbClr val="111827"/>
                </a:solidFill>
                <a:latin typeface="Noto Sans JP" pitchFamily="34" charset="0"/>
                <a:ea typeface="Noto Sans JP" pitchFamily="34" charset="-122"/>
                <a:cs typeface="Noto Sans JP" pitchFamily="34" charset="-120"/>
              </a:rPr>
              <a:t>占い・スピリチュアル（九星気学含む）</a:t>
            </a:r>
            <a:pPr indent="0" marL="0">
              <a:buNone/>
            </a:pPr>
            <a:r>
              <a:rPr lang="en-US" sz="1800" dirty="0">
                <a:solidFill>
                  <a:srgbClr val="111827"/>
                </a:solidFill>
                <a:latin typeface="Noto Sans JP" pitchFamily="34" charset="0"/>
                <a:ea typeface="Noto Sans JP" pitchFamily="34" charset="-122"/>
                <a:cs typeface="Noto Sans JP" pitchFamily="34" charset="-120"/>
              </a:rPr>
              <a:t>で、タロット系チャンネルの短期急成長事例（数ヶ月で登録者10万人）と九星気学の高い台本自動化適性が魅力だが、九星気学特化チャンネルの登録者・再生数データが調査上未確認である点が判断材料としてやや手薄。</a:t>
            </a:r>
            <a:pPr indent="0" marL="0">
              <a:buNone/>
            </a:pPr>
            <a:r>
              <a:rPr lang="en-US" sz="1800" b="1" dirty="0">
                <a:solidFill>
                  <a:srgbClr val="111827"/>
                </a:solidFill>
                <a:latin typeface="Noto Sans JP" pitchFamily="34" charset="0"/>
                <a:ea typeface="Noto Sans JP" pitchFamily="34" charset="-122"/>
                <a:cs typeface="Noto Sans JP" pitchFamily="34" charset="-120"/>
              </a:rPr>
              <a:t>ビジネス書・自己啓発の要約</a:t>
            </a:r>
            <a:pPr indent="0" marL="0">
              <a:buNone/>
            </a:pPr>
            <a:r>
              <a:rPr lang="en-US" sz="1800" dirty="0">
                <a:solidFill>
                  <a:srgbClr val="111827"/>
                </a:solidFill>
                <a:latin typeface="Noto Sans JP" pitchFamily="34" charset="0"/>
                <a:ea typeface="Noto Sans JP" pitchFamily="34" charset="-122"/>
                <a:cs typeface="Noto Sans JP" pitchFamily="34" charset="-120"/>
              </a:rPr>
              <a:t>は視聴者関心度こそ高いが、新規参入の急成長事例が確認できず、かつ著作権（翻案権）上のグレーゾーンという他2ジャンルにはない固有リスクを</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サマリー（続き 1）</a:t>
            </a:r>
            <a:endParaRPr lang="en-US" sz="2400" dirty="0"/>
          </a:p>
        </p:txBody>
      </p:sp>
      <p:sp>
        <p:nvSpPr>
          <p:cNvPr id="3" name="Text 1"/>
          <p:cNvSpPr/>
          <p:nvPr/>
        </p:nvSpPr>
        <p:spPr>
          <a:xfrm>
            <a:off x="457200" y="1280160"/>
            <a:ext cx="8229600" cy="31998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抱えるため、3ジャンル中では優先度が最も低い。</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比較表（自宅完結・自動生成に向くジャンル）</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508434"/>
                <a:gridCol w="1078550"/>
                <a:gridCol w="622701"/>
                <a:gridCol w="843142"/>
                <a:gridCol w="843142"/>
                <a:gridCol w="4333632"/>
              </a:tblGrid>
              <a:tr h="1152525">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順位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ジャンル</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視聴者関心度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短期急成長ポテンシャル</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自宅完結・自動生成適性</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総合コメント</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2124075">
                <a:tc>
                  <a:txBody>
                    <a:bodyPr/>
                    <a:lstStyle/>
                    <a:p>
                      <a:pPr indent="0" marL="0">
                        <a:buNone/>
                      </a:pPr>
                      <a:r>
                        <a:rPr lang="en-US" sz="1100" dirty="0">
                          <a:solidFill>
                            <a:srgbClr val="111827"/>
                          </a:solidFill>
                          <a:latin typeface="Noto Sans JP" pitchFamily="34" charset="0"/>
                          <a:ea typeface="Noto Sans JP" pitchFamily="34" charset="-122"/>
                          <a:cs typeface="Noto Sans JP" pitchFamily="34" charset="-120"/>
                        </a:rPr>
                        <a:t>1</a:t>
                      </a:r>
                      <a:endParaRPr lang="en-US" sz="11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11827"/>
                          </a:solidFill>
                          <a:latin typeface="Noto Sans JP" pitchFamily="34" charset="0"/>
                          <a:ea typeface="Noto Sans JP" pitchFamily="34" charset="-122"/>
                          <a:cs typeface="Noto Sans JP" pitchFamily="34" charset="-120"/>
                        </a:rPr>
                        <a:t>都市伝説・雑学解説</a:t>
                      </a:r>
                      <a:endParaRPr lang="en-US" sz="11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11827"/>
                          </a:solidFill>
                          <a:latin typeface="Noto Sans JP" pitchFamily="34" charset="0"/>
                          <a:ea typeface="Noto Sans JP" pitchFamily="34" charset="-122"/>
                          <a:cs typeface="Noto Sans JP" pitchFamily="34" charset="-120"/>
                        </a:rPr>
                        <a:t>5/5</a:t>
                      </a:r>
                      <a:endParaRPr lang="en-US" sz="11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11827"/>
                          </a:solidFill>
                          <a:latin typeface="Noto Sans JP" pitchFamily="34" charset="0"/>
                          <a:ea typeface="Noto Sans JP" pitchFamily="34" charset="-122"/>
                          <a:cs typeface="Noto Sans JP" pitchFamily="34" charset="-120"/>
                        </a:rPr>
                        <a:t>3/5</a:t>
                      </a:r>
                      <a:endParaRPr lang="en-US" sz="11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11827"/>
                          </a:solidFill>
                          <a:latin typeface="Noto Sans JP" pitchFamily="34" charset="0"/>
                          <a:ea typeface="Noto Sans JP" pitchFamily="34" charset="-122"/>
                          <a:cs typeface="Noto Sans JP" pitchFamily="34" charset="-120"/>
                        </a:rPr>
                        <a:t>適性あり</a:t>
                      </a:r>
                      <a:endParaRPr lang="en-US" sz="11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11827"/>
                          </a:solidFill>
                          <a:latin typeface="Noto Sans JP" pitchFamily="34" charset="0"/>
                          <a:ea typeface="Noto Sans JP" pitchFamily="34" charset="-122"/>
                          <a:cs typeface="Noto Sans JP" pitchFamily="34" charset="-120"/>
                        </a:rPr>
                        <a:t>200万人超の大型チャンネルが複数存続し、テレビ番組「やりすぎ都市伝説」との連動やファンイベント開催など需要は堅牢（視聴者関心度5点）。あるごめとりいが約3年で登録者100万人を達成した実績があるが、既存の大型ポジションとの競合はやや厳しく、飽和度は「中程度」と評価されているため短期急成長ポテンシャルは3点。最大の強みは自動生成適性で、ChatGPT（台本）→Midjourney（画像生成）→Runway（動画化）→Vrew（音声・字幕自動生成）という具体的かつ低コストな全自動制作フローが業界実績として確認されており、3ジャンル中もっとも「自宅完結・自動化」の再現性が高い。</a:t>
                      </a:r>
                      <a:endParaRPr lang="en-US" sz="11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比較表（自宅完結・自動生成に向くジャンル）（続き 1）</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508434"/>
                <a:gridCol w="1078550"/>
                <a:gridCol w="622701"/>
                <a:gridCol w="843142"/>
                <a:gridCol w="843142"/>
                <a:gridCol w="4333632"/>
              </a:tblGrid>
              <a:tr h="1152525">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順位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ジャンル</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視聴者関心度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短期急成長ポテンシャル</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自宅完結・自動生成適性</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総合コメント</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2324100">
                <a:tc>
                  <a:txBody>
                    <a:bodyPr/>
                    <a:lstStyle/>
                    <a:p>
                      <a:pPr indent="0" marL="0">
                        <a:buNone/>
                      </a:pPr>
                      <a:r>
                        <a:rPr lang="en-US" sz="1100" dirty="0">
                          <a:solidFill>
                            <a:srgbClr val="111827"/>
                          </a:solidFill>
                          <a:latin typeface="Noto Sans JP" pitchFamily="34" charset="0"/>
                          <a:ea typeface="Noto Sans JP" pitchFamily="34" charset="-122"/>
                          <a:cs typeface="Noto Sans JP" pitchFamily="34" charset="-120"/>
                        </a:rPr>
                        <a:t>2</a:t>
                      </a:r>
                      <a:endParaRPr lang="en-US" sz="11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11827"/>
                          </a:solidFill>
                          <a:latin typeface="Noto Sans JP" pitchFamily="34" charset="0"/>
                          <a:ea typeface="Noto Sans JP" pitchFamily="34" charset="-122"/>
                          <a:cs typeface="Noto Sans JP" pitchFamily="34" charset="-120"/>
                        </a:rPr>
                        <a:t>占い・スピリチュアル（九星気学含む）</a:t>
                      </a:r>
                      <a:endParaRPr lang="en-US" sz="11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11827"/>
                          </a:solidFill>
                          <a:latin typeface="Noto Sans JP" pitchFamily="34" charset="0"/>
                          <a:ea typeface="Noto Sans JP" pitchFamily="34" charset="-122"/>
                          <a:cs typeface="Noto Sans JP" pitchFamily="34" charset="-120"/>
                        </a:rPr>
                        <a:t>5/5</a:t>
                      </a:r>
                      <a:endParaRPr lang="en-US" sz="11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11827"/>
                          </a:solidFill>
                          <a:latin typeface="Noto Sans JP" pitchFamily="34" charset="0"/>
                          <a:ea typeface="Noto Sans JP" pitchFamily="34" charset="-122"/>
                          <a:cs typeface="Noto Sans JP" pitchFamily="34" charset="-120"/>
                        </a:rPr>
                        <a:t>3/5</a:t>
                      </a:r>
                      <a:endParaRPr lang="en-US" sz="11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11827"/>
                          </a:solidFill>
                          <a:latin typeface="Noto Sans JP" pitchFamily="34" charset="0"/>
                          <a:ea typeface="Noto Sans JP" pitchFamily="34" charset="-122"/>
                          <a:cs typeface="Noto Sans JP" pitchFamily="34" charset="-120"/>
                        </a:rPr>
                        <a:t>適性あり</a:t>
                      </a:r>
                      <a:endParaRPr lang="en-US" sz="11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11827"/>
                          </a:solidFill>
                          <a:latin typeface="Noto Sans JP" pitchFamily="34" charset="0"/>
                          <a:ea typeface="Noto Sans JP" pitchFamily="34" charset="-122"/>
                          <a:cs typeface="Noto Sans JP" pitchFamily="34" charset="-120"/>
                        </a:rPr>
                        <a:t>占い市場全体は約1兆円規模で成長中。タロット系「唯ひかり」は2019年のバズから数ヶ月で登録者10万人を突破し、短期急成長の明確な実例がある一方、これは直近の事例ではなく単発であるため短期急成長ポテンシャルは3点にとどめた。自動生成適性は高く、九星気学は生年月日という客観データに基づくため台本の自動生成・月替わりテンプレート運用がしやすく（気学9ガールズは自動化適性★5評価）、年末年始の季節需要というリピート検索の強みも持つ。ただし九星気学特化チャンネル（気学9ガールズ、竹下宏の九星気学）の登録者数・再生数は調査上未確認（情報不足）であり、都市伝説ほど定量的な裏付けが厚くない点に留意。</a:t>
                      </a:r>
                      <a:endParaRPr lang="en-US" sz="11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比較表（自宅完結・自動生成に向くジャンル）（続き 2）</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508434"/>
                <a:gridCol w="1078550"/>
                <a:gridCol w="622701"/>
                <a:gridCol w="843142"/>
                <a:gridCol w="843142"/>
                <a:gridCol w="4333632"/>
              </a:tblGrid>
              <a:tr h="1152525">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順位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ジャンル</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視聴者関心度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短期急成長ポテンシャル</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自宅完結・自動生成適性</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総合コメント</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2124075">
                <a:tc>
                  <a:txBody>
                    <a:bodyPr/>
                    <a:lstStyle/>
                    <a:p>
                      <a:pPr indent="0" marL="0">
                        <a:buNone/>
                      </a:pPr>
                      <a:r>
                        <a:rPr lang="en-US" sz="1100" dirty="0">
                          <a:solidFill>
                            <a:srgbClr val="111827"/>
                          </a:solidFill>
                          <a:latin typeface="Noto Sans JP" pitchFamily="34" charset="0"/>
                          <a:ea typeface="Noto Sans JP" pitchFamily="34" charset="-122"/>
                          <a:cs typeface="Noto Sans JP" pitchFamily="34" charset="-120"/>
                        </a:rPr>
                        <a:t>3</a:t>
                      </a:r>
                      <a:endParaRPr lang="en-US" sz="11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11827"/>
                          </a:solidFill>
                          <a:latin typeface="Noto Sans JP" pitchFamily="34" charset="0"/>
                          <a:ea typeface="Noto Sans JP" pitchFamily="34" charset="-122"/>
                          <a:cs typeface="Noto Sans JP" pitchFamily="34" charset="-120"/>
                        </a:rPr>
                        <a:t>ビジネス書・自己啓発の要約</a:t>
                      </a:r>
                      <a:endParaRPr lang="en-US" sz="11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11827"/>
                          </a:solidFill>
                          <a:latin typeface="Noto Sans JP" pitchFamily="34" charset="0"/>
                          <a:ea typeface="Noto Sans JP" pitchFamily="34" charset="-122"/>
                          <a:cs typeface="Noto Sans JP" pitchFamily="34" charset="-120"/>
                        </a:rPr>
                        <a:t>5/5</a:t>
                      </a:r>
                      <a:endParaRPr lang="en-US" sz="11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11827"/>
                          </a:solidFill>
                          <a:latin typeface="Noto Sans JP" pitchFamily="34" charset="0"/>
                          <a:ea typeface="Noto Sans JP" pitchFamily="34" charset="-122"/>
                          <a:cs typeface="Noto Sans JP" pitchFamily="34" charset="-120"/>
                        </a:rPr>
                        <a:t>1/5</a:t>
                      </a:r>
                      <a:endParaRPr lang="en-US" sz="11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11827"/>
                          </a:solidFill>
                          <a:latin typeface="Noto Sans JP" pitchFamily="34" charset="0"/>
                          <a:ea typeface="Noto Sans JP" pitchFamily="34" charset="-122"/>
                          <a:cs typeface="Noto Sans JP" pitchFamily="34" charset="-120"/>
                        </a:rPr>
                        <a:t>適性あり</a:t>
                      </a:r>
                      <a:endParaRPr lang="en-US" sz="11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100" dirty="0">
                          <a:solidFill>
                            <a:srgbClr val="111827"/>
                          </a:solidFill>
                          <a:latin typeface="Noto Sans JP" pitchFamily="34" charset="0"/>
                          <a:ea typeface="Noto Sans JP" pitchFamily="34" charset="-122"/>
                          <a:cs typeface="Noto Sans JP" pitchFamily="34" charset="-120"/>
                        </a:rPr>
                        <a:t>本要約チャンネル（167万人）、中田敦彦のYouTube大学（300万人以上）など大手が既に市場を確立しており、視聴者需要自体は根強い（5点）。一方、2025年以降に新規開設されたチャンネルの急成長事例は調査範囲内で「見当たらない」と明確に報告されており、既存大手中心の飽和市場であるため短期急成長ポテンシャルは1点。自動生成適性自体は技術的に高い（VYOND・VOICEPEAK・VOICEVOX等のツールで本要約チャンネルは毎日投稿を実現）が、書籍要約は著作権法上「翻案権」に触れるグレーゾーンであり、他2ジャンルにはない固有の法的リスクを抱える点が実運用上のマイナス要因。</a:t>
                      </a:r>
                      <a:endParaRPr lang="en-US" sz="11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参考: 制作コスト面で不向きと判定したジャンル</a:t>
            </a:r>
            <a:endParaRPr lang="en-US" sz="2400" dirty="0"/>
          </a:p>
        </p:txBody>
      </p:sp>
      <p:sp>
        <p:nvSpPr>
          <p:cNvPr id="3" name="Text 1"/>
          <p:cNvSpPr/>
          <p:nvPr/>
        </p:nvSpPr>
        <p:spPr>
          <a:xfrm>
            <a:off x="457200" y="1280160"/>
            <a:ext cx="8229600" cy="64770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該当なし。今回調査した3ジャンルはいずれも「自宅完結・自動生成適性：適性あり」と判定され、現地取材・本人出演を前提とするジャンルはなかった。</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推奨アクション</a:t>
            </a:r>
            <a:endParaRPr lang="en-US" sz="2400" dirty="0"/>
          </a:p>
        </p:txBody>
      </p:sp>
      <p:sp>
        <p:nvSpPr>
          <p:cNvPr id="3" name="Text 1"/>
          <p:cNvSpPr/>
          <p:nvPr/>
        </p:nvSpPr>
        <p:spPr>
          <a:xfrm>
            <a:off x="457200" y="1280160"/>
            <a:ext cx="8229600" cy="353377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1. </a:t>
            </a:r>
            <a:pPr indent="0" marL="0">
              <a:buNone/>
            </a:pPr>
            <a:r>
              <a:rPr lang="en-US" sz="1800" b="1" dirty="0">
                <a:solidFill>
                  <a:srgbClr val="111827"/>
                </a:solidFill>
                <a:latin typeface="Noto Sans JP" pitchFamily="34" charset="0"/>
                <a:ea typeface="Noto Sans JP" pitchFamily="34" charset="-122"/>
                <a:cs typeface="Noto Sans JP" pitchFamily="34" charset="-120"/>
              </a:rPr>
              <a:t>都市伝説・雑学解説を最優先で着手検証する。</a:t>
            </a:r>
            <a:pPr indent="0" marL="0">
              <a:buNone/>
            </a:pPr>
            <a:r>
              <a:rPr lang="en-US" sz="1800" dirty="0">
                <a:solidFill>
                  <a:srgbClr val="111827"/>
                </a:solidFill>
                <a:latin typeface="Noto Sans JP" pitchFamily="34" charset="0"/>
                <a:ea typeface="Noto Sans JP" pitchFamily="34" charset="-122"/>
                <a:cs typeface="Noto Sans JP" pitchFamily="34" charset="-120"/>
              </a:rPr>
              <a:t> まずは「ゆっくり解説型」フォーマットでパイロット版を1〜2本制作し、ChatGPT→Midjourney→Runway→Vrewの制作フローを自宅環境で実際に通してみて、工数・コスト（Midjourney月額$10-96、Runway月額$8-96）と品質のバランスを検証する。既存の200万人超チャンネルと正面衝突しないよう、アニメ・ゲーム関連や心理学解説と組み合わせたニッチな切り口を選定すること。</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2. </a:t>
            </a:r>
            <a:pPr indent="0" marL="0">
              <a:buNone/>
            </a:pPr>
            <a:r>
              <a:rPr lang="en-US" sz="1800" b="1" dirty="0">
                <a:solidFill>
                  <a:srgbClr val="111827"/>
                </a:solidFill>
                <a:latin typeface="Noto Sans JP" pitchFamily="34" charset="0"/>
                <a:ea typeface="Noto Sans JP" pitchFamily="34" charset="-122"/>
                <a:cs typeface="Noto Sans JP" pitchFamily="34" charset="-120"/>
              </a:rPr>
              <a:t>占い・スピリチュアル（九星気学含む）は第2候補として並行調査を継続する。</a:t>
            </a:r>
            <a:pPr indent="0" marL="0">
              <a:buNone/>
            </a:pPr>
            <a:r>
              <a:rPr lang="en-US" sz="1800" dirty="0">
                <a:solidFill>
                  <a:srgbClr val="111827"/>
                </a:solidFill>
                <a:latin typeface="Noto Sans JP" pitchFamily="34" charset="0"/>
                <a:ea typeface="Noto Sans JP" pitchFamily="34" charset="-122"/>
                <a:cs typeface="Noto Sans JP" pitchFamily="34" charset="-120"/>
              </a:rPr>
              <a:t> 特に気学9ガールズ・竹下宏の九星気学の登録者数・再生数を追加調査し、情報不足を解消した上で再評価する。九星気学の「毎月・毎星」の定型運勢コンテンツから自動化パイロットを開始しやすい。</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推奨アクション（続き 1）</a:t>
            </a:r>
            <a:endParaRPr lang="en-US" sz="2400" dirty="0"/>
          </a:p>
        </p:txBody>
      </p:sp>
      <p:sp>
        <p:nvSpPr>
          <p:cNvPr id="3" name="Text 1"/>
          <p:cNvSpPr/>
          <p:nvPr/>
        </p:nvSpPr>
        <p:spPr>
          <a:xfrm>
            <a:off x="457200" y="1280160"/>
            <a:ext cx="8229600" cy="128587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3. </a:t>
            </a:r>
            <a:pPr indent="0" marL="0">
              <a:buNone/>
            </a:pPr>
            <a:r>
              <a:rPr lang="en-US" sz="1800" b="1" dirty="0">
                <a:solidFill>
                  <a:srgbClr val="111827"/>
                </a:solidFill>
                <a:latin typeface="Noto Sans JP" pitchFamily="34" charset="0"/>
                <a:ea typeface="Noto Sans JP" pitchFamily="34" charset="-122"/>
                <a:cs typeface="Noto Sans JP" pitchFamily="34" charset="-120"/>
              </a:rPr>
              <a:t>ビジネス書・自己啓発の要約は着手を保留する。</a:t>
            </a:r>
            <a:pPr indent="0" marL="0">
              <a:buNone/>
            </a:pPr>
            <a:r>
              <a:rPr lang="en-US" sz="1800" dirty="0">
                <a:solidFill>
                  <a:srgbClr val="111827"/>
                </a:solidFill>
                <a:latin typeface="Noto Sans JP" pitchFamily="34" charset="0"/>
                <a:ea typeface="Noto Sans JP" pitchFamily="34" charset="-122"/>
                <a:cs typeface="Noto Sans JP" pitchFamily="34" charset="-120"/>
              </a:rPr>
              <a:t> 実施する場合は「要約」ではなく「個人的な感想・解説」形式に徹し、著作権リスクを法務的に確認したうえで、古典ビジネス書など出版社の目に留まりにくい題材から始めることを条件とする。</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2026-07-31T09:30:45Z</dcterms:created>
  <dcterms:modified xsi:type="dcterms:W3CDTF">2026-07-31T09:30:45Z</dcterms:modified>
</cp:coreProperties>
</file>